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UBCC · 交付总览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§1；D2 §1、§5；D3 §1、§5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§1–§3；图：ubcc-system-architecture.png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§3.2；图：ubcc-metadata-fanout-scaling.png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§3–§4；D3 §2.6、附录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§5；图：ubcc-protocol-paths.png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§7.2–§7.6；机制对比，不作为额外性能测量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来源：D2 §1–§2、§7；图：ubcc-verification-stack.png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来源：D2 §3；focused 模型活性由定向可执行验证支持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来源：D2 §4–§5；同一测试可覆盖多个故障动作类别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来源：D3 §2.3、§3；扩展观测按 TC 合并，容量 GM / 附加时延 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来源：D3 §2.4、§4.1–§4.6；扩展服务阶段不含逐批压力写入与屏障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来源：D3 §5；表内为组均值时延降幅；三档压力为不同条件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来源：D3 §7–§8；EPBackend 职责见 D1 §3.7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 §1、§8；D2 §4.7、§8；D3 §1.2、§5.2、§8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来源：D1、D2、D3 交付结论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UBCC  /  三项交付件成果汇报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UBCC 跨节点缓存一致性方案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UBCC · 交付总览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4630400" cy="411480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280160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独立全局目录，连接跨节点一致性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28016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协议体系结构 · 形式化验证与可靠性 · 性能验收与集成接口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537960"/>
            <a:ext cx="1280160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分层元数据容量扩展   /   精确权限仲裁   /   可验证的集成路径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交付总览与三项指标结论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§1；D2 §1、§5；D3 §1、§5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316736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D1 定义架构与协议语义    D2 验证正确性与故障恢复    D3 核验性能并定义集成接口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4091939" cy="726947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71215"/>
            <a:ext cx="3904487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788920"/>
            <a:ext cx="4229100" cy="726947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871215"/>
            <a:ext cx="4041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788920"/>
            <a:ext cx="4960620" cy="726947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2871215"/>
            <a:ext cx="477316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验收门槛 / 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38727"/>
            <a:ext cx="4091939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21023"/>
            <a:ext cx="3904487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 · 等效追踪容量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538727"/>
            <a:ext cx="4229100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3621023"/>
            <a:ext cx="4041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1.515×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3538727"/>
            <a:ext cx="4960620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3621023"/>
            <a:ext cx="477316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≥1.500×，达标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88536"/>
            <a:ext cx="4091939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370831"/>
            <a:ext cx="3904487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 · 目录溢出附加时延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288536"/>
            <a:ext cx="4229100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4370831"/>
            <a:ext cx="4041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10.535 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4288536"/>
            <a:ext cx="4960620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4370831"/>
            <a:ext cx="477316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&lt;25 ns，达标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38344"/>
            <a:ext cx="4091939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20640"/>
            <a:ext cx="3904487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 · 适用场景等权平均降幅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5038344"/>
            <a:ext cx="4229100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5120640"/>
            <a:ext cx="4041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64.759%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5038344"/>
            <a:ext cx="4960620" cy="726947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8" y="5120640"/>
            <a:ext cx="477316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≥10%，达标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88152"/>
            <a:ext cx="4091939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870448"/>
            <a:ext cx="3904487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 · UBCC 相对 HA-VI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5788152"/>
            <a:ext cx="4229100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4608" y="5870448"/>
            <a:ext cx="4041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核心组 20.8%–27.1%</a:t>
            </a:r>
          </a:p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代表组 8.7%–25.0%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5788152"/>
            <a:ext cx="4960620" cy="726947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8" y="5870448"/>
            <a:ext cx="477316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五拓扑 × 三压力</a:t>
            </a:r>
          </a:p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15 个坐标的两个组全部满足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720840"/>
            <a:ext cx="1316736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正确性门禁全部通过：72/72（指标1/2） · 6/6（独立时延） · 240/240（配对）</a:t>
            </a:r>
          </a:p>
          <a:p>
            <a:pPr>
              <a:spcAft>
                <a:spcPts val="0"/>
              </a:spcAft>
              <a:defRPr sz="19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6/6（重型回归） · 52/52（故障资格）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D1  /  方案概述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独立 Outer 层，分离全局与节点内职责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§1–§3；图：ubcc-system-architecture.png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03 / 16</a:t>
            </a:r>
          </a:p>
        </p:txBody>
      </p:sp>
      <p:pic>
        <p:nvPicPr>
          <p:cNvPr id="8" name="Picture 7" descr="ubcc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698" y="1965960"/>
            <a:ext cx="7064763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58400" y="228600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2148840"/>
            <a:ext cx="3611880" cy="11612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节点内 gem5 CHI 保持本地一致性职责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3538728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3401568"/>
            <a:ext cx="3611880" cy="11612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 边界转换请求、数据与完成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4791456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4654296"/>
            <a:ext cx="3611880" cy="11612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Home UBCC 控制器统一全局权限仲裁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6044184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5907024"/>
            <a:ext cx="3611880" cy="11612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ResidentDir 与 H64 Backstore 独立管理元数据容量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D1  /  ResidentDir + Bloom + H64 Backstore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分层目录：热点驻留，冷元数据扩容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§3.2；图：ubcc-metadata-fanout-scaling.png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04 / 16</a:t>
            </a:r>
          </a:p>
        </p:txBody>
      </p:sp>
      <p:pic>
        <p:nvPicPr>
          <p:cNvPr id="8" name="Picture 7" descr="ubcc-metadata-fanout-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52964"/>
            <a:ext cx="9144000" cy="50837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12680" y="214884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3794760" cy="1252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ResidentDir：片上 SRAM</a:t>
            </a:r>
          </a:p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tag / state / epoch / sharers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3493008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3355848"/>
            <a:ext cx="3794760" cy="1252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Bloom：分组过滤；三条查询路径为 ResDir Hit、ResDir Miss+BF Hit、BF Miss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12680" y="4837176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4700016"/>
            <a:ext cx="3794760" cy="1252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H64 Backstore：metadata DRAM；64 B bucket 开放寻址哈希；仅存目录元数据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6181344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6044184"/>
            <a:ext cx="3794760" cy="1252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固定 512 KiB 片上预算</a:t>
            </a:r>
          </a:p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有效覆盖按地址去重计算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D1  /  全局一致性语义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全局 MESI 与两阶段提交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§3–§4；D3 §2.6、附录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314700" cy="52578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9397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G_I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2011680"/>
            <a:ext cx="3314700" cy="52578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209397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G_S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3314700" cy="52578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209397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G_E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2011680"/>
            <a:ext cx="3314700" cy="52578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62488" y="209397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G_M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3314700" cy="5257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4261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无有效副本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560320"/>
            <a:ext cx="3314700" cy="5257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7368" y="264261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共享只读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560320"/>
            <a:ext cx="3314700" cy="5257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64261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干净独占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60" y="2560320"/>
            <a:ext cx="3314700" cy="5257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62488" y="2642616"/>
            <a:ext cx="3127248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修改独占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2044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383280"/>
            <a:ext cx="12938760" cy="6766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owner 由 one-hot sharer 推导；精确选择 Recall / Invalidate 目标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88536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51376"/>
            <a:ext cx="12938760" cy="6766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Grant 阶段保留权限；committed 与 intended 分离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56632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919472"/>
            <a:ext cx="12938760" cy="6766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匹配 Clear 后提交目标状态，并退役对应 outstanding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824728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87568"/>
            <a:ext cx="12938760" cy="6766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epoch / reqId 单调与身份校验：旧消息不推进新事务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592824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455664"/>
            <a:ext cx="12938760" cy="6766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单向完成语义：数据与权限可观察即根操作完成，不等待同步 ClearResp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D1  /  远程读 · 所有权迁移 · 共享转写者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三条关键路径，共用一个提交点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§5；图：ubcc-protocol-paths.png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42519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远程读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9192"/>
            <a:ext cx="42519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定位权威数据源</a:t>
            </a:r>
          </a:p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返回数据与共享授权</a:t>
            </a:r>
          </a:p>
        </p:txBody>
      </p:sp>
      <p:pic>
        <p:nvPicPr>
          <p:cNvPr id="10" name="Picture 9" descr="ubcc-protocol-paths.png"/>
          <p:cNvPicPr>
            <a:picLocks noChangeAspect="1"/>
          </p:cNvPicPr>
          <p:nvPr/>
        </p:nvPicPr>
        <p:blipFill>
          <a:blip r:embed="rId3"/>
          <a:srcRect b="66667"/>
          <a:stretch>
            <a:fillRect/>
          </a:stretch>
        </p:blipFill>
        <p:spPr>
          <a:xfrm>
            <a:off x="685800" y="3840480"/>
            <a:ext cx="4251960" cy="1413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2080" y="2057400"/>
            <a:ext cx="42519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所有权迁移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79192"/>
            <a:ext cx="42519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旧 owner 释放权限与最新数据</a:t>
            </a:r>
          </a:p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新 owner 获得单一写权限</a:t>
            </a:r>
          </a:p>
        </p:txBody>
      </p:sp>
      <p:pic>
        <p:nvPicPr>
          <p:cNvPr id="13" name="Picture 12" descr="ubcc-protocol-paths.png"/>
          <p:cNvPicPr>
            <a:picLocks noChangeAspect="1"/>
          </p:cNvPicPr>
          <p:nvPr/>
        </p:nvPicPr>
        <p:blipFill>
          <a:blip r:embed="rId3"/>
          <a:srcRect t="33333" b="33333"/>
          <a:stretch>
            <a:fillRect/>
          </a:stretch>
        </p:blipFill>
        <p:spPr>
          <a:xfrm>
            <a:off x="5212080" y="3840480"/>
            <a:ext cx="4251960" cy="1413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38360" y="2057400"/>
            <a:ext cx="42519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共享转写者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679192"/>
            <a:ext cx="42519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精确失效实际 sharer</a:t>
            </a:r>
          </a:p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Ack 集合收敛后授权</a:t>
            </a:r>
          </a:p>
        </p:txBody>
      </p:sp>
      <p:pic>
        <p:nvPicPr>
          <p:cNvPr id="16" name="Picture 15" descr="ubcc-protocol-paths.png"/>
          <p:cNvPicPr>
            <a:picLocks noChangeAspect="1"/>
          </p:cNvPicPr>
          <p:nvPr/>
        </p:nvPicPr>
        <p:blipFill>
          <a:blip r:embed="rId3"/>
          <a:srcRect t="66667"/>
          <a:stretch>
            <a:fillRect/>
          </a:stretch>
        </p:blipFill>
        <p:spPr>
          <a:xfrm>
            <a:off x="9738360" y="3840480"/>
            <a:ext cx="4251960" cy="14131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858000"/>
            <a:ext cx="1298448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先完成数据回收与目标确认，再授予权限；requester 本地完成后发送 Clear，Home 校验并提交。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D1  /  全局目录方案与状态集合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方案选择：精确全局 MESI 目录＋边界转换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§7.2–§7.6；机制对比，不作为额外性能测量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30302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93976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011680"/>
            <a:ext cx="569214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093976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多节点系统级 CHI HN-F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11680"/>
            <a:ext cx="628650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093976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全局 MESI 目录＋边界协议转换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15184"/>
            <a:ext cx="13030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97480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存储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615184"/>
            <a:ext cx="5692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697480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全局目录＋CHI 通道与事务字段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615184"/>
            <a:ext cx="62865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2-bit 状态＋节点位图；冷容量分层扩展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18688"/>
            <a:ext cx="13030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00984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时延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3218688"/>
            <a:ext cx="56921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5688" y="3300984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原生 CHI；可用 DMT/DCT 直接供数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218688"/>
            <a:ext cx="628650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3300984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边界映射；远程供数经 Home；E 优化私有写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22191"/>
            <a:ext cx="13030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904487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流量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822191"/>
            <a:ext cx="5692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75688" y="3904487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取决于过滤精度、snoop 与数据路由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822191"/>
            <a:ext cx="62865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3904487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精确失效降低控制流量；中转增加数据遍历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425696"/>
            <a:ext cx="13030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07992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复杂度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4425696"/>
            <a:ext cx="56921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4507992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复用标准资产；管理通道、credit 与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4425696"/>
            <a:ext cx="628650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4507992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语义集中；EP 负责跨域完成关联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029200"/>
            <a:ext cx="13030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111496"/>
            <a:ext cx="11155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状态转换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5029200"/>
            <a:ext cx="5692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5111496"/>
            <a:ext cx="5504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依 CHI 版本、目录及 agent 能力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5029200"/>
            <a:ext cx="62865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5111496"/>
            <a:ext cx="60990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I/S/E/M 权限清晰，提交点明确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97880"/>
            <a:ext cx="12984480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选择 MESI：E 覆盖常见私有读后写；与 MSI 同为 2-bit；I/S/E/M 覆盖主要权限关系。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720840"/>
            <a:ext cx="1298448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按瓶颈引入增强：远程中转→直接转发；持续脏共享→O；干净共享供数→F；</a:t>
            </a:r>
          </a:p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已有系统级 CHI fabric 或互操作需求→全局 HN-F。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D2  /  验证体系与总体结论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从形式化模型到故障资格的分层验证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来源：D2 §1–§2、§7；图：ubcc-verification-stack.png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08 / 16</a:t>
            </a:r>
          </a:p>
        </p:txBody>
      </p:sp>
      <p:pic>
        <p:nvPicPr>
          <p:cNvPr id="8" name="Picture 7" descr="ubcc-verification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30861"/>
            <a:ext cx="6583680" cy="33565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2194560"/>
            <a:ext cx="5280659" cy="67208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7" y="2276856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验证内容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10159" y="2194560"/>
            <a:ext cx="1257300" cy="67208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9887" y="2276856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889504"/>
            <a:ext cx="5280659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7" y="2971800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目录核心状态与提交顺序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10159" y="2889504"/>
            <a:ext cx="1257300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19887" y="2971800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584448"/>
            <a:ext cx="5280659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3666744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Recall / Invalidate / Upgrade / Clear 活性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59" y="3584448"/>
            <a:ext cx="1257300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19887" y="3666744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4279392"/>
            <a:ext cx="5280659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7" y="4361688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EP-RNF snoop 仲裁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710159" y="4279392"/>
            <a:ext cx="1257300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19887" y="4361688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4974336"/>
            <a:ext cx="5280659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7" y="5056631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多 PA / 多 Socket 隔离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710159" y="4974336"/>
            <a:ext cx="1257300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19887" y="5056631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669279"/>
            <a:ext cx="5280659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5751575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O3 处理器同步语义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710159" y="5669279"/>
            <a:ext cx="1257300" cy="67208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19887" y="5751575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6364224"/>
            <a:ext cx="5280659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7" y="6446520"/>
            <a:ext cx="5093207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丢包、重复、乱序故障资格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710159" y="6364224"/>
            <a:ext cx="1257300" cy="67208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19887" y="6446520"/>
            <a:ext cx="1069848" cy="5852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52/52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7223760"/>
            <a:ext cx="64008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拓扑覆盖：3N1S、3N2S、8N2S、16N1S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D2  /  TLA+ 与定向机制验证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形式化结果：安全性与活性分别核验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来源：D2 §3；focused 模型活性由定向可执行验证支持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09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097779" cy="6812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93976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模型组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011680"/>
            <a:ext cx="3726179" cy="6812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2093976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59" y="2011680"/>
            <a:ext cx="4457700" cy="6812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9487" y="2093976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Liveness / 验证方式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15768"/>
            <a:ext cx="50977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98064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UBCC 目录核心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715768"/>
            <a:ext cx="37261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798064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59" y="2715768"/>
            <a:ext cx="4457700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7" y="2798064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19856"/>
            <a:ext cx="5097779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02152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传输故障模型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419856"/>
            <a:ext cx="3726179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3502152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59" y="3419856"/>
            <a:ext cx="4457700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7" y="3502152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23944"/>
            <a:ext cx="50977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206240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多 PA / 多 Socket 隔离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123944"/>
            <a:ext cx="37261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4206240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59" y="4123944"/>
            <a:ext cx="4457700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7" y="4206240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28032"/>
            <a:ext cx="5097779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910328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EP-RNF snoop 仲裁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4828032"/>
            <a:ext cx="3726179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4910328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 · 328 个状态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59" y="4828032"/>
            <a:ext cx="4457700" cy="68122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7" y="4910328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定向端到端验证通过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532120"/>
            <a:ext cx="50977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614416"/>
            <a:ext cx="49103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committed waiter 精确退役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5532120"/>
            <a:ext cx="3726179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5614416"/>
            <a:ext cx="3538727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通过 · 274,593 个状态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59" y="5532120"/>
            <a:ext cx="4457700" cy="68122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9487" y="5614416"/>
            <a:ext cx="4270248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退役与升级重放定向验证通过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556248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6419088"/>
            <a:ext cx="1293876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Safety：单一写 owner、epoch 不回退、重复 Ack 不重复推进、匹配 Clear 才提交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7095744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6958583"/>
            <a:ext cx="1293876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Liveness：公平调度、消息最终可达条件下，请求推进、确认收敛与 waiter 重放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D2  /  可恢复传输故障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可靠性机制覆盖 52 项故障资格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来源：D2 §4–§5；同一测试可覆盖多个故障动作类别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316736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两阶段提交 · epoch/reqId 校验 · Ack 位图 · tombstone 幂等 · waiter 去重与重放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153162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16936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资格组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834640"/>
            <a:ext cx="948690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8" y="2916936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2834640"/>
            <a:ext cx="226314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14048" y="2916936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38144"/>
            <a:ext cx="1531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20440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438144"/>
            <a:ext cx="94869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4288" y="3520440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基础消息故障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0" y="3438144"/>
            <a:ext cx="2263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14048" y="3520440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20/20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41648"/>
            <a:ext cx="1531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23944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041648"/>
            <a:ext cx="948690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4123944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连续丢失：首 2 次 / 首 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04320" y="4041648"/>
            <a:ext cx="22631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4048" y="4123944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8/8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45152"/>
            <a:ext cx="1531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727448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Q3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645152"/>
            <a:ext cx="94869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04288" y="4727448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请求与响应双故障组合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04320" y="4645152"/>
            <a:ext cx="2263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14048" y="4727448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4/4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248656"/>
            <a:ext cx="1531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330952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Q4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5248656"/>
            <a:ext cx="948690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04288" y="5330952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32 PA、突发、部分 Ack、多来源与并发边界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704320" y="5248656"/>
            <a:ext cx="22631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14048" y="5330952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8/8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52160"/>
            <a:ext cx="1531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934456"/>
            <a:ext cx="1344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Q5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5852160"/>
            <a:ext cx="948690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8" y="5934456"/>
            <a:ext cx="929944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3N1S、3N2S、8N2S、16N1S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04320" y="5852160"/>
            <a:ext cx="22631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14048" y="5934456"/>
            <a:ext cx="20756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12/12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583680"/>
            <a:ext cx="1316736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消息路径：Clear / Upgrade / Invalidate / Recall    总计：52/52</a:t>
            </a:r>
          </a:p>
          <a:p>
            <a:pPr>
              <a:spcAft>
                <a:spcPts val="0"/>
              </a:spcAft>
              <a:defRPr sz="21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故障动作覆盖：丢失 37 · 延迟 13 · 重复 6 · 乱序 6（类别可重叠）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D3  /  等效追踪容量与目录溢出成本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指标 1：容量扩展与附加时延均达标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来源：D3 §2.3、§3；扩展观测按 TC 合并，容量 GM / 附加时延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653796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6172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固定 512 KiB 预算 · 容量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61722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1.515×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54096"/>
            <a:ext cx="6172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99,293 / 65,536；门槛 ≥1.500×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920240"/>
            <a:ext cx="653796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057400"/>
            <a:ext cx="6172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目录溢出附加时延 · 三轮配对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423160"/>
            <a:ext cx="61722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10.535 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054096"/>
            <a:ext cx="6172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同协议策略：512 KiB 溢出路径 − 2 MiB 无溢出参考；门槛 &lt;25 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6103620" cy="38862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989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扩展应用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657600"/>
            <a:ext cx="2994660" cy="38862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373989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容量 GM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3657600"/>
            <a:ext cx="4183379" cy="38862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373989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附加时延 AM（ns）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610362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5137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OLTP 缓冲池（TC142）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069080"/>
            <a:ext cx="299466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415137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1.843×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4069080"/>
            <a:ext cx="4183379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7" y="415137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14.448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80560"/>
            <a:ext cx="610362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56285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索引页访问（TC143）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480560"/>
            <a:ext cx="299466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456285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1.618×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4480560"/>
            <a:ext cx="4183379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456285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36.967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92040"/>
            <a:ext cx="610362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97433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WAL（TC144）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4892040"/>
            <a:ext cx="299466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497433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1.848×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4892040"/>
            <a:ext cx="4183379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93807" y="497433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17.722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610362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38581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FaaS 热调用（TC145）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5303520"/>
            <a:ext cx="299466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538581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1.807×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5303520"/>
            <a:ext cx="4183379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3807" y="538581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25.249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715000"/>
            <a:ext cx="610362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79729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图 frontier（TC146）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5715000"/>
            <a:ext cx="299466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76288" y="579729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1.849×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5715000"/>
            <a:ext cx="4183379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93807" y="579729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17.142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6126480"/>
            <a:ext cx="610362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20877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Feature store（TC147）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6126480"/>
            <a:ext cx="2994660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620877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1.812×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6126480"/>
            <a:ext cx="4183379" cy="3886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7" y="620877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23.233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6537960"/>
            <a:ext cx="610362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6620256"/>
            <a:ext cx="591616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合并均值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6537960"/>
            <a:ext cx="2994660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76288" y="6620256"/>
            <a:ext cx="2807208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1.794×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84080" y="6537960"/>
            <a:ext cx="4183379" cy="3886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93807" y="6620256"/>
            <a:ext cx="3995927" cy="3017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22.460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7132320"/>
            <a:ext cx="129844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五拓扑 × 175% / 200% 目录压力：60 坐标、180 次运行；六个应用合并容量均 ≥1.5×。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D3  /  应用端到端时延与服务阶段扩展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指标 2：适用场景等权平均降幅 64.759%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来源：D3 §2.4、§4.1–§4.6；扩展服务阶段不含逐批压力写入与屏障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316736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合同值 64.759% ≥10%：optimized 对比 naive，六个适用场景按降幅等权。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4366259" cy="48920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62656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合同计分场景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880360"/>
            <a:ext cx="1988820" cy="48920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2962656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降幅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92424"/>
            <a:ext cx="4366259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74720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已有 sharer 重访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392424"/>
            <a:ext cx="198882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3474720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98.305%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04487"/>
            <a:ext cx="4366259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86783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已有 owner 写入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904487"/>
            <a:ext cx="198882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3986783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96.667%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4366259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8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新 requester 读取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416552"/>
            <a:ext cx="198882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4498848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25.000%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28616"/>
            <a:ext cx="4366259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010912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脏 owner 交接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928616"/>
            <a:ext cx="198882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5010912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−13.333%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40680"/>
            <a:ext cx="4366259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522976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混合批处理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5440680"/>
            <a:ext cx="198882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5522976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97.302%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952744"/>
            <a:ext cx="4366259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35040"/>
            <a:ext cx="41788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Catalog 批处理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5952744"/>
            <a:ext cx="198882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8" y="6035040"/>
            <a:ext cx="180136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84.615%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880360"/>
            <a:ext cx="4777740" cy="48920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927" y="2962656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扩展服务阶段（按 TC 合并）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115800" y="2880360"/>
            <a:ext cx="1851660" cy="48920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225528" y="2962656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降幅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3392424"/>
            <a:ext cx="477774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7" y="3474720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OLTP 缓冲池（TC142）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15800" y="3392424"/>
            <a:ext cx="185166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25528" y="3474720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44.330%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3904487"/>
            <a:ext cx="477774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7" y="3986783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索引页（TC143）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115800" y="3904487"/>
            <a:ext cx="185166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25528" y="3986783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48.760%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4416552"/>
            <a:ext cx="477774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4927" y="4498848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WAL（TC144）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15800" y="4416552"/>
            <a:ext cx="185166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225528" y="4498848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37.470%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4928616"/>
            <a:ext cx="477774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24927" y="5010912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FaaS（TC145）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115800" y="4928616"/>
            <a:ext cx="185166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25528" y="5010912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42.290%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5440680"/>
            <a:ext cx="477774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24927" y="5522976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图 frontier（TC146）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115800" y="5440680"/>
            <a:ext cx="1851660" cy="48920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25528" y="5522976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46.930%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5952744"/>
            <a:ext cx="477774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4927" y="6035040"/>
            <a:ext cx="4590288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Feature store（TC147）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115800" y="5952744"/>
            <a:ext cx="1851660" cy="48920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225528" y="6035040"/>
            <a:ext cx="1664207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50.520%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720840"/>
            <a:ext cx="6400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适用门槛：naive ≥500 ns；</a:t>
            </a:r>
          </a:p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119.209 ns 的中性控制项不计分。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6720840"/>
            <a:ext cx="649224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扩展 37.5%–50.5%，全部 ≥10%；</a:t>
            </a:r>
          </a:p>
          <a:p>
            <a:pPr>
              <a:spcAft>
                <a:spcPts val="0"/>
              </a:spcAft>
              <a:defRPr sz="19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三种单 Socket 拓扑、两档目录压力等权。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D3  /  UBCC 与 HA-VI 配对比较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指标 3：15 个坐标的两个场景组全部满足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来源：D3 §5；表内为组均值时延降幅；三档压力为不同条件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316736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核心组 20.8%–27.1%   |   代表组 8.7%–25.0%   |   120 对 / 240 次运行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180594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71215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拓扑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788920"/>
            <a:ext cx="381762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871215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0% L3 压力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88920"/>
            <a:ext cx="381762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871215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50% L3 压力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788920"/>
            <a:ext cx="3817620" cy="58064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59568" y="2871215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100% L3 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92424"/>
            <a:ext cx="18059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74720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3N1S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392424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3474720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22.451% / 8.679%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92424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474720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24.103% / 8.927%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3392424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59568" y="3474720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27.129% / 8.978%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95928"/>
            <a:ext cx="18059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078224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3N2S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995928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8608" y="4078224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21.247% / 11.685%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95928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078224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20.814% / 12.570%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995928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9568" y="4078224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20.911% / 11.769%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599431"/>
            <a:ext cx="18059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681727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8N1S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4599431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8608" y="4681727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22.443% / 14.799%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599431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681727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23.834% / 9.503%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4599431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4681727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27.102% / 9.617%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202936"/>
            <a:ext cx="180594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285231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8N2S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5202936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8608" y="5285231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21.210% / 16.117%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202936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5285231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20.846% / 14.352%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9840" y="5202936"/>
            <a:ext cx="3817620" cy="58064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59568" y="5285231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24.285% / 14.407%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806440"/>
            <a:ext cx="180594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888736"/>
            <a:ext cx="161848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16N1S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5806440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8608" y="5888736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22.722% / 25.011%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5806440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5888736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23.900% / 10.881%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5806440"/>
            <a:ext cx="3817620" cy="5806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59568" y="5888736"/>
            <a:ext cx="3630168" cy="4937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27.070% / 11.072%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6583680"/>
            <a:ext cx="129844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每格：核心组 / 代表组；各组分别按 3 / 5 个场景等权，判据为 UBCC 组均值严格更低。</a:t>
            </a:r>
          </a:p>
          <a:p>
            <a:pPr>
              <a:spcAft>
                <a:spcPts val="0"/>
              </a:spcAft>
              <a:defRPr sz="20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共同条件：O3、256 KiB L3、相同输入与根操作完成边界、单向完成语义。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D3  /  UBCC · EP-RNF · EP-SNF · EPBackend · UBAdapter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集成接口与六步流程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来源：D3 §7–§8；EPBackend 职责见 D1 §3.7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726179" cy="57150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93976"/>
            <a:ext cx="3538727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模块 / 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9578340" cy="57150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93976"/>
            <a:ext cx="939088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职责与完成关系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3726179" cy="5715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88336"/>
            <a:ext cx="3538727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UBCC 目录服务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9578340" cy="5715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688336"/>
            <a:ext cx="939088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读 / 写权限 / Clear / Writeback / Evict：授权、提交与目录生命周期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3726179" cy="571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82696"/>
            <a:ext cx="3538727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EP-RNF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00400"/>
            <a:ext cx="9578340" cy="571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282696"/>
            <a:ext cx="939088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ReadShared / ReadUnique / CleanUnique；snoop immediate / stale 仲裁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94760"/>
            <a:ext cx="3726179" cy="5715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877056"/>
            <a:ext cx="3538727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EP-SNF / EPBackend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94760"/>
            <a:ext cx="9578340" cy="5715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877056"/>
            <a:ext cx="939088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节点内服务请求与 CHI 响应；关联 Recall、写回及跨域完成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3726179" cy="571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471416"/>
            <a:ext cx="3538727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UBAdapter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389120"/>
            <a:ext cx="9578340" cy="571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4471416"/>
            <a:ext cx="939088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发送、接收、回调、稳定重试；保持 epoch / reqId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316736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公共字段：消息类型 · 源/目标 node 与 socket · PA · epoch/reqId · 权限/状态</a:t>
            </a:r>
          </a:p>
          <a:p>
            <a:pPr>
              <a:spcAft>
                <a:spcPts val="0"/>
              </a:spcAft>
              <a:defRPr sz="2100" b="0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数据有效性与负载 · target mask 与 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1  确定拓扑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与地址映射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2  装载 gem5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UBIO 与参考模型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3  选择矩阵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分配并行资源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4  按共同身份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交换事务事件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5  检查数据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完成与模块状态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6446520"/>
            <a:ext cx="2103120" cy="914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78640" y="6528816"/>
            <a:ext cx="1938528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6  按正式口径</a:t>
            </a:r>
          </a:p>
          <a:p>
            <a:pPr>
              <a:spcAft>
                <a:spcPts val="0"/>
              </a:spcAft>
              <a:defRPr sz="16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汇总结论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交付内容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三册交付内容与适用范围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 §1、§8；D2 §4.7、§8；D3 §1.2、§5.2、§8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4000500" cy="77266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93976"/>
            <a:ext cx="3813048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交付件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9304019" cy="77266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093976"/>
            <a:ext cx="9116567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主要内容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07208"/>
            <a:ext cx="4000500" cy="7726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89504"/>
            <a:ext cx="3813048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D1 · 协议体系结构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807208"/>
            <a:ext cx="9304019" cy="7726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2889504"/>
            <a:ext cx="9116567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架构、组件、分层目录、一致性语义、关键路径与方案选择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02736"/>
            <a:ext cx="4000500" cy="7726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85032"/>
            <a:ext cx="3813048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D2 · 形式化验证与可靠性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602736"/>
            <a:ext cx="9304019" cy="7726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685032"/>
            <a:ext cx="9116567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TLA+、定向机制、端到端、O3、多拓扑及故障资格矩阵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98264"/>
            <a:ext cx="4000500" cy="7726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3813048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D3 · 性能验收与集成接口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398264"/>
            <a:ext cx="9304019" cy="7726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480560"/>
            <a:ext cx="9116567" cy="685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三项指标、计量口径、配对结果、模块接口与六步集成流程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3288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96128"/>
            <a:ext cx="12938760" cy="5212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建模层级：逻辑仿真与参考模型，验证协议节点规模与端点能力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45936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208776"/>
            <a:ext cx="12938760" cy="5212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可靠性条件：节点与 Home 持续存活，可恢复传输故障最终解除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958584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821424"/>
            <a:ext cx="12938760" cy="5212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目标硬件与端口级 Switch 微体系结构未建模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2801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3441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三项指标达标，验证与集成路径明确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594360" cy="5029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7754112"/>
            <a:ext cx="12801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来源：D1、D2、D3 交付结论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0" y="7708392"/>
            <a:ext cx="640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425196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886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指标 1 · 固定预算的分层目录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1.515×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附加时延 10.535 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3792" y="2148840"/>
            <a:ext cx="425196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86000"/>
            <a:ext cx="3886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指标 2 · 适用场景时延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651760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64.759%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3282696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等权平均降幅，超过 10% 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1784" y="2148840"/>
            <a:ext cx="4251960" cy="15087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4663" y="2286000"/>
            <a:ext cx="3886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指标 3 · 配对组均值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4663" y="2651760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85E8E"/>
                </a:solidFill>
                <a:latin typeface="Microsoft YaHei"/>
              </a:defRPr>
            </a:pPr>
            <a:r>
              <a:rPr>
                <a:ea typeface="Microsoft YaHei"/>
              </a:rPr>
              <a:t>15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4663" y="3282696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66579"/>
                </a:solidFill>
                <a:latin typeface="Microsoft YaHei"/>
              </a:defRPr>
            </a:pPr>
            <a:r>
              <a:rPr>
                <a:ea typeface="Microsoft YaHei"/>
              </a:rPr>
              <a:t>两个场景组均低于 HA-VI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129387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体系结构明确：独立全局 MESI、精确目录、ResidentDir 与 H64 Backstore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129387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验证体系确立：形式化、定向、端到端与故障资格；52/52 故障项通过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09360"/>
            <a:ext cx="73152" cy="73152"/>
          </a:xfrm>
          <a:prstGeom prst="rect">
            <a:avLst/>
          </a:prstGeom>
          <a:solidFill>
            <a:srgbClr val="DC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6172200"/>
            <a:ext cx="1293876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42D4E"/>
                </a:solidFill>
                <a:latin typeface="Microsoft YaHei"/>
              </a:defRPr>
            </a:pPr>
            <a:r>
              <a:rPr>
                <a:ea typeface="Microsoft YaHei"/>
              </a:rPr>
              <a:t>集成路径完整：模块接口、事务身份、完成条件与六步验证流程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